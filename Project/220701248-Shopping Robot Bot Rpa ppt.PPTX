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80" r:id="rId2"/>
    <p:sldId id="366" r:id="rId3"/>
    <p:sldId id="380" r:id="rId4"/>
    <p:sldId id="383" r:id="rId5"/>
    <p:sldId id="385" r:id="rId6"/>
    <p:sldId id="386" r:id="rId7"/>
    <p:sldId id="387" r:id="rId8"/>
    <p:sldId id="400" r:id="rId9"/>
    <p:sldId id="388" r:id="rId10"/>
    <p:sldId id="401" r:id="rId11"/>
    <p:sldId id="389" r:id="rId12"/>
    <p:sldId id="390" r:id="rId13"/>
    <p:sldId id="402" r:id="rId14"/>
    <p:sldId id="403" r:id="rId15"/>
    <p:sldId id="404" r:id="rId16"/>
    <p:sldId id="405" r:id="rId17"/>
    <p:sldId id="406" r:id="rId18"/>
    <p:sldId id="407" r:id="rId19"/>
    <p:sldId id="392" r:id="rId20"/>
    <p:sldId id="393" r:id="rId21"/>
    <p:sldId id="394" r:id="rId22"/>
    <p:sldId id="395" r:id="rId23"/>
    <p:sldId id="28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varScale="1">
        <p:scale>
          <a:sx n="78" d="100"/>
          <a:sy n="78" d="100"/>
        </p:scale>
        <p:origin x="170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pPr/>
              <a:t>11/22/2024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pPr/>
              <a:t>‹#›</a:t>
            </a:fld>
            <a:endParaRPr lang="en-US" dirty="0"/>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dirty="0"/>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dirty="0"/>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dirty="0"/>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dirty="0"/>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dirty="0"/>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dirty="0"/>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dirty="0"/>
          </a:p>
        </p:txBody>
      </p:sp>
    </p:spTree>
    <p:extLst>
      <p:ext uri="{BB962C8B-B14F-4D97-AF65-F5344CB8AC3E}">
        <p14:creationId xmlns:p14="http://schemas.microsoft.com/office/powerpoint/2010/main" val="33176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dirty="0"/>
          </a:p>
        </p:txBody>
      </p:sp>
    </p:spTree>
    <p:extLst>
      <p:ext uri="{BB962C8B-B14F-4D97-AF65-F5344CB8AC3E}">
        <p14:creationId xmlns:p14="http://schemas.microsoft.com/office/powerpoint/2010/main" val="3322719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dirty="0"/>
          </a:p>
        </p:txBody>
      </p:sp>
    </p:spTree>
    <p:extLst>
      <p:ext uri="{BB962C8B-B14F-4D97-AF65-F5344CB8AC3E}">
        <p14:creationId xmlns:p14="http://schemas.microsoft.com/office/powerpoint/2010/main" val="1789443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dirty="0"/>
          </a:p>
        </p:txBody>
      </p:sp>
    </p:spTree>
    <p:extLst>
      <p:ext uri="{BB962C8B-B14F-4D97-AF65-F5344CB8AC3E}">
        <p14:creationId xmlns:p14="http://schemas.microsoft.com/office/powerpoint/2010/main" val="276364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1350932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895256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233110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270531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indent="-342900" algn="ctr">
                <a:def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4322209" cy="1631216"/>
            </a:xfrm>
            <a:prstGeom prst="rect">
              <a:avLst/>
            </a:prstGeom>
            <a:noFill/>
          </p:spPr>
          <p:txBody>
            <a:bodyPr wrap="square" rtlCol="0">
              <a:spAutoFit/>
            </a:bodyPr>
            <a:lstStyle/>
            <a:p>
              <a:r>
                <a:rPr lang="en-US" sz="2000" b="1" dirty="0"/>
                <a:t>Your Register No. 220701248</a:t>
              </a:r>
            </a:p>
            <a:p>
              <a:r>
                <a:rPr lang="en-US" sz="2000" b="1" dirty="0"/>
                <a:t>Name : Sanjay S</a:t>
              </a:r>
            </a:p>
            <a:p>
              <a:r>
                <a:rPr lang="en-US" sz="2000" b="1" dirty="0"/>
                <a:t>Guide Name : Dr. N. Durai Murgan</a:t>
              </a:r>
            </a:p>
            <a:p>
              <a:r>
                <a:rPr lang="en-US" sz="2000" b="1" dirty="0"/>
                <a:t>Designation and Department : Associate Professor / CSE</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GB" sz="5400" b="1" dirty="0">
                    <a:solidFill>
                      <a:schemeClr val="bg1"/>
                    </a:solidFill>
                    <a:ea typeface="Open Sans Bold" panose="020B0806030504020204" pitchFamily="34" charset="0"/>
                    <a:cs typeface="Open Sans Bold" panose="020B0806030504020204" pitchFamily="34" charset="0"/>
                  </a:rPr>
                  <a:t>SHOPPING ROBOT BOT</a:t>
                </a:r>
                <a:endParaRPr lang="en-US" sz="5400" b="1" dirty="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a:xfrm>
            <a:off x="190500" y="928670"/>
            <a:ext cx="8763000" cy="5395930"/>
          </a:xfrm>
        </p:spPr>
        <p:txBody>
          <a:bodyPr>
            <a:normAutofit fontScale="92500" lnSpcReduction="10000"/>
          </a:bodyPr>
          <a:lstStyle/>
          <a:p>
            <a:endParaRPr lang="en-GB" dirty="0"/>
          </a:p>
          <a:p>
            <a:r>
              <a:rPr lang="en-GB" dirty="0"/>
              <a:t>The </a:t>
            </a:r>
            <a:r>
              <a:rPr lang="en-GB" b="1" dirty="0"/>
              <a:t>Shopping Robot</a:t>
            </a:r>
            <a:r>
              <a:rPr lang="en-GB" dirty="0"/>
              <a:t> project, developed using UiPath Studio, automates the process of online product search, data collection, and analysis. The user inputs a product name through a message box, prompting the robot to search for the product on Amazon. Key product details such as name, price, and ratings are extracted through data scraping and stored in an Excel sheet for structured analysis. The robot identifies the top five products based on user-defined criteria, generates a Word document highlighting these products, and includes insights on the maximum and minimum priced items with their respective names. Additionally, the robot offers the functionality to add selected items to the shopping cart, enhancing convenience and interactivity. This project demonstrates the application of robotic process automation (RPA) in simplifying online shopping tasks, providing users with an efficient and error-free experience.</a:t>
            </a:r>
          </a:p>
          <a:p>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r>
              <a:rPr lang="en-GB" dirty="0"/>
              <a:t>The need for the proposed </a:t>
            </a:r>
            <a:r>
              <a:rPr lang="en-GB" b="1" dirty="0"/>
              <a:t>Shopping Robot</a:t>
            </a:r>
            <a:r>
              <a:rPr lang="en-GB" dirty="0"/>
              <a:t> system arises from the increasing demand for automated solutions that streamline and enhance the online shopping experience. In today's fast-paced digital world, users often face the challenge of manually comparing products across various platforms, which is time-consuming and prone to errors. The Shopping Robot addresses this need by automating the entire process—searching for products, extracting key data such as price, name, and ratings, and organizing it for easy comparison. By storing the data in an Excel sheet and generating a Word document with the top 5 products, along with their price analysis, the system provides users with valuable insights to make informed decisions quickly. Additionally, the robot’s ability to add items to the shopping cart makes the shopping process seamless and efficient. Thus, the proposed system significantly reduces manual effort, enhances accuracy, and improves user productivity in online shopping.</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r>
              <a:rPr lang="en-GB" b="1" dirty="0"/>
              <a:t>Time Efficiency</a:t>
            </a:r>
            <a:r>
              <a:rPr lang="en-GB" dirty="0"/>
              <a:t>: The Shopping Robot automates the entire product search and data extraction process, saving users time by quickly retrieving relevant product information from Amazon without the need for manual browsing and comparison.</a:t>
            </a:r>
          </a:p>
          <a:p>
            <a:r>
              <a:rPr lang="en-GB" b="1" dirty="0"/>
              <a:t>Error-Free Data Collection</a:t>
            </a:r>
            <a:r>
              <a:rPr lang="en-GB" dirty="0"/>
              <a:t>: By using automation to scrape product details such as name, price, and ratings, the system ensures consistent and accurate data collection, eliminating human errors typically associated with manual data entry.</a:t>
            </a:r>
          </a:p>
          <a:p>
            <a:r>
              <a:rPr lang="en-GB" b="1" dirty="0"/>
              <a:t>Data Organization and Analysis</a:t>
            </a:r>
            <a:r>
              <a:rPr lang="en-GB" dirty="0"/>
              <a:t>: The system stores the scraped data in an organized Excel sheet, making it easier for users to compare products. It also analyzes the top 5 products and presents the highest and lowest priced items, helping users make well-informed purchasing decisions.</a:t>
            </a:r>
          </a:p>
          <a:p>
            <a:r>
              <a:rPr lang="en-GB" b="1" dirty="0"/>
              <a:t>User-Friendly Interface</a:t>
            </a:r>
            <a:r>
              <a:rPr lang="en-GB" dirty="0"/>
              <a:t>: The simple message box input allows users to enter product names easily, providing a smooth and accessible experience, even for non-technical users, making online shopping more efficient.</a:t>
            </a:r>
          </a:p>
          <a:p>
            <a:r>
              <a:rPr lang="en-GB" b="1" dirty="0"/>
              <a:t>Seamless Shopping Experience</a:t>
            </a:r>
            <a:r>
              <a:rPr lang="en-GB" dirty="0"/>
              <a:t>: In addition to gathering product information and generating reports, the system’s ability to add items to the shopping cart streamlines the shopping experience, making it a comprehensive solution for users who want to efficiently search, compare, and purchase products online.</a:t>
            </a:r>
          </a:p>
          <a:p>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GB" dirty="0"/>
              <a:t>The main objective of the </a:t>
            </a:r>
            <a:r>
              <a:rPr lang="en-GB" b="1" dirty="0"/>
              <a:t>Shopping Robot</a:t>
            </a:r>
            <a:r>
              <a:rPr lang="en-GB" dirty="0"/>
              <a:t> project is to automate the online shopping process by enabling users to search for products on Amazon, scrape essential details such as product name, price, and ratings, and present this information in a structured format. The robot stores the collected data in an Excel sheet for easy comparison, identifies the top 5 products based on user-defined criteria, and generates a Word document with the relevant product details, including maximum and minimum price insights. Additionally, it provides a seamless shopping experience by allowing users to add selected items directly to their cart. This project aims to improve the efficiency, accuracy, and convenience of online shopping through robotic process automation (RPA) in UiPath Studio.</a:t>
            </a: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descr="Blank diagram (1).png"/>
          <p:cNvPicPr>
            <a:picLocks noGrp="1" noChangeAspect="1"/>
          </p:cNvPicPr>
          <p:nvPr>
            <p:ph idx="1"/>
          </p:nvPr>
        </p:nvPicPr>
        <p:blipFill>
          <a:blip r:embed="rId4"/>
          <a:stretch>
            <a:fillRect/>
          </a:stretch>
        </p:blipFill>
        <p:spPr>
          <a:xfrm>
            <a:off x="3456326" y="990600"/>
            <a:ext cx="2231348" cy="5334000"/>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pPr>
              <a:buNone/>
            </a:pPr>
            <a:r>
              <a:rPr lang="en-US" u="sng" dirty="0"/>
              <a:t> </a:t>
            </a:r>
            <a:r>
              <a:rPr lang="en-US" sz="3100" b="1" u="sng" dirty="0"/>
              <a:t>Hardware Requirements:</a:t>
            </a:r>
            <a:endParaRPr lang="en-GB" sz="3100" b="1" dirty="0"/>
          </a:p>
          <a:p>
            <a:r>
              <a:rPr lang="en-GB" b="1" u="sng" dirty="0"/>
              <a:t>Processor (CPU)</a:t>
            </a:r>
            <a:r>
              <a:rPr lang="en-GB" u="sng" dirty="0"/>
              <a:t>:</a:t>
            </a:r>
          </a:p>
          <a:p>
            <a:pPr lvl="1"/>
            <a:r>
              <a:rPr lang="en-GB" dirty="0"/>
              <a:t>Minimum: Intel Core i3 or equivalent</a:t>
            </a:r>
          </a:p>
          <a:p>
            <a:pPr lvl="1"/>
            <a:r>
              <a:rPr lang="en-GB" dirty="0"/>
              <a:t>Recommended: Intel Core i5 or higher</a:t>
            </a:r>
          </a:p>
          <a:p>
            <a:r>
              <a:rPr lang="en-GB" b="1" u="sng" dirty="0"/>
              <a:t>RAM</a:t>
            </a:r>
            <a:r>
              <a:rPr lang="en-GB" u="sng" dirty="0"/>
              <a:t>:</a:t>
            </a:r>
          </a:p>
          <a:p>
            <a:pPr lvl="1"/>
            <a:r>
              <a:rPr lang="en-GB" dirty="0"/>
              <a:t>Minimum: 4 GB</a:t>
            </a:r>
          </a:p>
          <a:p>
            <a:pPr lvl="1"/>
            <a:r>
              <a:rPr lang="en-GB" dirty="0"/>
              <a:t>Recommended: 8 GB or more for better performance</a:t>
            </a:r>
          </a:p>
          <a:p>
            <a:r>
              <a:rPr lang="en-GB" b="1" u="sng" dirty="0"/>
              <a:t>Hard Drive</a:t>
            </a:r>
            <a:r>
              <a:rPr lang="en-GB" u="sng" dirty="0"/>
              <a:t>:</a:t>
            </a:r>
          </a:p>
          <a:p>
            <a:pPr lvl="1"/>
            <a:r>
              <a:rPr lang="en-GB" dirty="0"/>
              <a:t>Minimum: 2 GB of free disk space</a:t>
            </a:r>
          </a:p>
          <a:p>
            <a:pPr lvl="1"/>
            <a:r>
              <a:rPr lang="en-GB" dirty="0"/>
              <a:t>Recommended: 5 GB or more (to store temporary files, project files, and data such as Excel sheets and Word documents)</a:t>
            </a:r>
          </a:p>
          <a:p>
            <a:r>
              <a:rPr lang="en-GB" b="1" u="sng" dirty="0"/>
              <a:t>Display</a:t>
            </a:r>
            <a:r>
              <a:rPr lang="en-GB" u="sng" dirty="0"/>
              <a:t>:</a:t>
            </a:r>
          </a:p>
          <a:p>
            <a:pPr lvl="1"/>
            <a:r>
              <a:rPr lang="en-GB" dirty="0"/>
              <a:t>Minimum: 1366 x 768 resolution</a:t>
            </a:r>
          </a:p>
          <a:p>
            <a:pPr lvl="1"/>
            <a:r>
              <a:rPr lang="en-GB" dirty="0"/>
              <a:t>Recommended: Full HD (1920 x 1080) for improved usability and ease of working with UiPath Studio</a:t>
            </a:r>
          </a:p>
          <a:p>
            <a:r>
              <a:rPr lang="en-GB" b="1" u="sng" dirty="0"/>
              <a:t>Internet Connection</a:t>
            </a:r>
            <a:r>
              <a:rPr lang="en-GB" u="sng" dirty="0"/>
              <a:t>:</a:t>
            </a:r>
          </a:p>
          <a:p>
            <a:pPr lvl="1"/>
            <a:r>
              <a:rPr lang="en-GB" dirty="0"/>
              <a:t>Required for product searches, data scraping, and accessing Amazon. A stable broadband connection is recommended.</a:t>
            </a:r>
          </a:p>
          <a:p>
            <a:pPr>
              <a:buNone/>
            </a:pPr>
            <a:endParaRPr lang="en-US" u="sng"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Requirements</a:t>
            </a:r>
          </a:p>
        </p:txBody>
      </p:sp>
      <p:sp>
        <p:nvSpPr>
          <p:cNvPr id="3" name="Content Placeholder 2"/>
          <p:cNvSpPr>
            <a:spLocks noGrp="1"/>
          </p:cNvSpPr>
          <p:nvPr>
            <p:ph idx="1"/>
          </p:nvPr>
        </p:nvSpPr>
        <p:spPr/>
        <p:txBody>
          <a:bodyPr>
            <a:normAutofit fontScale="70000" lnSpcReduction="20000"/>
          </a:bodyPr>
          <a:lstStyle/>
          <a:p>
            <a:pPr>
              <a:buNone/>
            </a:pPr>
            <a:r>
              <a:rPr lang="en-GB" b="1" u="sng" dirty="0"/>
              <a:t>Software Requirements:</a:t>
            </a:r>
          </a:p>
          <a:p>
            <a:r>
              <a:rPr lang="en-GB" b="1" dirty="0"/>
              <a:t>Operating System</a:t>
            </a:r>
            <a:r>
              <a:rPr lang="en-GB" dirty="0"/>
              <a:t>: Windows 7 (64-bit) or higher</a:t>
            </a:r>
          </a:p>
          <a:p>
            <a:r>
              <a:rPr lang="en-GB" dirty="0"/>
              <a:t>Windows 10 or later is recommended for better compatibility and performance.</a:t>
            </a:r>
          </a:p>
          <a:p>
            <a:r>
              <a:rPr lang="en-GB" b="1" dirty="0"/>
              <a:t>UiPath Studio: UiPath</a:t>
            </a:r>
            <a:r>
              <a:rPr lang="en-GB" dirty="0"/>
              <a:t> Studio (Community or Enterprise Edition) for developing the RPA solution</a:t>
            </a:r>
          </a:p>
          <a:p>
            <a:r>
              <a:rPr lang="en-GB" dirty="0"/>
              <a:t>Compatible with the latest version of UiPath Studio</a:t>
            </a:r>
          </a:p>
          <a:p>
            <a:r>
              <a:rPr lang="en-GB" dirty="0"/>
              <a:t>.NET Framework 4.7.2 or higher</a:t>
            </a:r>
          </a:p>
          <a:p>
            <a:r>
              <a:rPr lang="en-GB" b="1" dirty="0"/>
              <a:t>Microsoft Excel: Excel</a:t>
            </a:r>
            <a:r>
              <a:rPr lang="en-GB" dirty="0"/>
              <a:t> 2013 or later for storing and manipulating the scraped product data in spreadsheets.</a:t>
            </a:r>
          </a:p>
          <a:p>
            <a:r>
              <a:rPr lang="en-GB" b="1" dirty="0"/>
              <a:t>Microsoft Word: Word</a:t>
            </a:r>
            <a:r>
              <a:rPr lang="en-GB" dirty="0"/>
              <a:t> 2013 or later for generating the document with top 5 product details.</a:t>
            </a:r>
          </a:p>
          <a:p>
            <a:r>
              <a:rPr lang="en-GB" b="1" dirty="0"/>
              <a:t>Browser: Google</a:t>
            </a:r>
            <a:r>
              <a:rPr lang="en-GB" dirty="0"/>
              <a:t> Chrome, Mozilla Firefox, or Microsoft Edge (for web scraping via UiPath)</a:t>
            </a:r>
          </a:p>
          <a:p>
            <a:r>
              <a:rPr lang="en-GB" dirty="0"/>
              <a:t>UiPath extensions for the browser need to be installed to enable automation on the Amazon website.</a:t>
            </a:r>
          </a:p>
          <a:p>
            <a:r>
              <a:rPr lang="en-GB" b="1" dirty="0"/>
              <a:t>Additional Libraries</a:t>
            </a:r>
            <a:r>
              <a:rPr lang="en-GB" dirty="0"/>
              <a:t>: </a:t>
            </a:r>
            <a:r>
              <a:rPr lang="en-GB" b="1" dirty="0"/>
              <a:t>UiPath.Excel.Activities</a:t>
            </a:r>
            <a:r>
              <a:rPr lang="en-GB" dirty="0"/>
              <a:t> for working with Excel files.</a:t>
            </a:r>
          </a:p>
          <a:p>
            <a:r>
              <a:rPr lang="en-GB" b="1" dirty="0"/>
              <a:t>UiPath.Word.Activities</a:t>
            </a:r>
            <a:r>
              <a:rPr lang="en-GB" dirty="0"/>
              <a:t> for working with Word documents.</a:t>
            </a:r>
          </a:p>
          <a:p>
            <a:r>
              <a:rPr lang="en-GB" b="1" dirty="0"/>
              <a:t>UiPath.WebAPI.Activities</a:t>
            </a:r>
            <a:r>
              <a:rPr lang="en-GB" dirty="0"/>
              <a:t> (optional, for API-based automation or advanced web scraping)</a:t>
            </a:r>
          </a:p>
          <a:p>
            <a:pPr>
              <a:buNone/>
            </a:pPr>
            <a:endParaRPr lang="en-US" b="1" u="sn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GB" b="1" u="sng" dirty="0"/>
              <a:t>Module 1: Product Search and Data Scraping</a:t>
            </a:r>
          </a:p>
          <a:p>
            <a:pPr>
              <a:buNone/>
            </a:pPr>
            <a:r>
              <a:rPr lang="en-GB" b="1" dirty="0"/>
              <a:t>      </a:t>
            </a:r>
            <a:r>
              <a:rPr lang="en-GB" b="1" u="sng" dirty="0"/>
              <a:t>Short Description:</a:t>
            </a:r>
          </a:p>
          <a:p>
            <a:pPr>
              <a:buNone/>
            </a:pPr>
            <a:r>
              <a:rPr lang="en-GB" dirty="0"/>
              <a:t>     Module 1 focuses on automating the product search process on Amazon. The user enters a product name into a message box, and the robot uses web scraping techniques to search for the product on Amazon. It extracts essential product information, including the product name, price, and rating, and stores this data in an organized Excel sheet for easy analysis. This module lays the foundation for collecting product data and provides a structured approach to manage and process the scraped information.</a:t>
            </a: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Description</a:t>
            </a:r>
          </a:p>
        </p:txBody>
      </p:sp>
      <p:sp>
        <p:nvSpPr>
          <p:cNvPr id="3" name="Content Placeholder 2"/>
          <p:cNvSpPr>
            <a:spLocks noGrp="1"/>
          </p:cNvSpPr>
          <p:nvPr>
            <p:ph idx="1"/>
          </p:nvPr>
        </p:nvSpPr>
        <p:spPr/>
        <p:txBody>
          <a:bodyPr/>
          <a:lstStyle/>
          <a:p>
            <a:r>
              <a:rPr lang="en-GB" b="1" u="sng" dirty="0"/>
              <a:t>Module 2: Data Analysis and Report Generation</a:t>
            </a:r>
          </a:p>
          <a:p>
            <a:r>
              <a:rPr lang="en-GB" b="1" u="sng" dirty="0"/>
              <a:t>Short Description:</a:t>
            </a:r>
          </a:p>
          <a:p>
            <a:r>
              <a:rPr lang="en-GB" dirty="0"/>
              <a:t>Module 2 focuses on processing and analyzing the data collected in Module 1. It identifies the top 5 products based on the extracted details such as price and ratings. The robot then generates a Word document containing the names, prices, and ratings of these top 5 products. Additionally, it identifies and highlights the maximum and minimum priced products, providing insights into the price range of the products. This module ensures that users receive a clear, well-organized report to aid in decision-making.</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4" name="Content Placeholder 3" descr="erd diagram.png"/>
          <p:cNvPicPr>
            <a:picLocks noGrp="1" noChangeAspect="1"/>
          </p:cNvPicPr>
          <p:nvPr>
            <p:ph idx="1"/>
          </p:nvPr>
        </p:nvPicPr>
        <p:blipFill>
          <a:blip r:embed="rId4"/>
          <a:stretch>
            <a:fillRect/>
          </a:stretch>
        </p:blipFill>
        <p:spPr>
          <a:xfrm>
            <a:off x="2027427" y="990600"/>
            <a:ext cx="5089146" cy="5334000"/>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a:buNone/>
            </a:pPr>
            <a:r>
              <a:rPr lang="en-GB" b="1" u="sng" dirty="0"/>
              <a:t>Main Process: Online Shopping Automation</a:t>
            </a:r>
          </a:p>
          <a:p>
            <a:r>
              <a:rPr lang="en-GB" dirty="0"/>
              <a:t>The main process focuses on creating an end-to-end automated workflow that simplifies and streamlines the online shopping experience. This process leverages UiPath Studio's powerful automation tools to achieve efficiency, accuracy, and user satisfaction.</a:t>
            </a:r>
          </a:p>
          <a:p>
            <a:pPr>
              <a:buNone/>
            </a:pPr>
            <a:r>
              <a:rPr lang="en-GB" b="1" u="sng" dirty="0"/>
              <a:t>Key Objectives of the Main Process:</a:t>
            </a:r>
          </a:p>
          <a:p>
            <a:r>
              <a:rPr lang="en-GB" b="1" dirty="0"/>
              <a:t>Automating Search and Data Collection:</a:t>
            </a:r>
            <a:r>
              <a:rPr lang="en-GB" dirty="0"/>
              <a:t> Eliminating manual effort by automatically searching for products and extracting relevant details.</a:t>
            </a:r>
          </a:p>
          <a:p>
            <a:r>
              <a:rPr lang="en-GB" b="1" dirty="0"/>
              <a:t>Organizing and Analyzing Data:</a:t>
            </a:r>
            <a:r>
              <a:rPr lang="en-GB" dirty="0"/>
              <a:t> Storing data systematically and providing actionable insights through analysis and reports.</a:t>
            </a:r>
          </a:p>
          <a:p>
            <a:r>
              <a:rPr lang="en-GB" b="1" dirty="0"/>
              <a:t>Enhancing Decision-Making:</a:t>
            </a:r>
            <a:r>
              <a:rPr lang="en-GB" dirty="0"/>
              <a:t> Assisting users in choosing the best products based on price and ratings.</a:t>
            </a:r>
          </a:p>
          <a:p>
            <a:r>
              <a:rPr lang="en-GB" b="1" dirty="0"/>
              <a:t>Simplifying Purchases:</a:t>
            </a:r>
            <a:r>
              <a:rPr lang="en-GB" dirty="0"/>
              <a:t> Automating the addition of desired products to the shopping cart.</a:t>
            </a:r>
          </a:p>
          <a:p>
            <a:pPr>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Design</a:t>
            </a:r>
          </a:p>
        </p:txBody>
      </p:sp>
      <p:sp>
        <p:nvSpPr>
          <p:cNvPr id="3" name="Content Placeholder 2"/>
          <p:cNvSpPr>
            <a:spLocks noGrp="1"/>
          </p:cNvSpPr>
          <p:nvPr>
            <p:ph idx="1"/>
          </p:nvPr>
        </p:nvSpPr>
        <p:spPr/>
        <p:txBody>
          <a:bodyPr>
            <a:normAutofit lnSpcReduction="10000"/>
          </a:bodyPr>
          <a:lstStyle/>
          <a:p>
            <a:pPr>
              <a:buNone/>
            </a:pPr>
            <a:r>
              <a:rPr lang="en-GB" b="1" u="sng" dirty="0"/>
              <a:t>Key Activities in the Main Process:</a:t>
            </a:r>
          </a:p>
          <a:p>
            <a:r>
              <a:rPr lang="en-GB" b="1" dirty="0"/>
              <a:t>User Interaction:</a:t>
            </a:r>
            <a:endParaRPr lang="en-GB" dirty="0"/>
          </a:p>
          <a:p>
            <a:pPr lvl="1"/>
            <a:r>
              <a:rPr lang="en-GB" dirty="0"/>
              <a:t>Providing an easy-to-use interface (message box) for entering the product name.</a:t>
            </a:r>
          </a:p>
          <a:p>
            <a:pPr lvl="1"/>
            <a:r>
              <a:rPr lang="en-GB" dirty="0"/>
              <a:t>Ensuring a smooth interaction between the user and the automated system.</a:t>
            </a:r>
          </a:p>
          <a:p>
            <a:pPr>
              <a:buNone/>
            </a:pPr>
            <a:r>
              <a:rPr lang="en-GB" b="1" u="sng" dirty="0"/>
              <a:t>Web Automation:</a:t>
            </a:r>
            <a:endParaRPr lang="en-GB" u="sng" dirty="0"/>
          </a:p>
          <a:p>
            <a:pPr lvl="1"/>
            <a:r>
              <a:rPr lang="en-GB" dirty="0"/>
              <a:t>Searching for the product on Amazon.</a:t>
            </a:r>
          </a:p>
          <a:p>
            <a:pPr lvl="1"/>
            <a:r>
              <a:rPr lang="en-GB" dirty="0"/>
              <a:t>Navigating the website to locate search results and extract data.</a:t>
            </a:r>
          </a:p>
          <a:p>
            <a:pPr>
              <a:buNone/>
            </a:pPr>
            <a:r>
              <a:rPr lang="en-GB" b="1" u="sng" dirty="0"/>
              <a:t>Data Scraping:</a:t>
            </a:r>
            <a:endParaRPr lang="en-GB" u="sng" dirty="0"/>
          </a:p>
          <a:p>
            <a:pPr lvl="1"/>
            <a:r>
              <a:rPr lang="en-GB" dirty="0"/>
              <a:t>Collecting detailed product information, including name, price, and rating, for all relevant results.</a:t>
            </a:r>
          </a:p>
          <a:p>
            <a:pPr lvl="1"/>
            <a:r>
              <a:rPr lang="en-GB" dirty="0"/>
              <a:t>Handling large data sets efficiently.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Design</a:t>
            </a:r>
          </a:p>
        </p:txBody>
      </p:sp>
      <p:sp>
        <p:nvSpPr>
          <p:cNvPr id="3" name="Content Placeholder 2"/>
          <p:cNvSpPr>
            <a:spLocks noGrp="1"/>
          </p:cNvSpPr>
          <p:nvPr>
            <p:ph idx="1"/>
          </p:nvPr>
        </p:nvSpPr>
        <p:spPr/>
        <p:txBody>
          <a:bodyPr>
            <a:normAutofit fontScale="92500" lnSpcReduction="20000"/>
          </a:bodyPr>
          <a:lstStyle/>
          <a:p>
            <a:pPr>
              <a:buNone/>
            </a:pPr>
            <a:r>
              <a:rPr lang="en-GB" sz="3000" b="1" u="sng" dirty="0"/>
              <a:t>Sub-Processes:</a:t>
            </a:r>
          </a:p>
          <a:p>
            <a:pPr>
              <a:buNone/>
            </a:pPr>
            <a:r>
              <a:rPr lang="en-GB" b="1" u="sng" dirty="0"/>
              <a:t>User Input Handling:</a:t>
            </a:r>
          </a:p>
          <a:p>
            <a:r>
              <a:rPr lang="en-GB" b="1" dirty="0"/>
              <a:t>Purpose</a:t>
            </a:r>
            <a:r>
              <a:rPr lang="en-GB" dirty="0"/>
              <a:t>: To collect the product name from the user.</a:t>
            </a:r>
          </a:p>
          <a:p>
            <a:r>
              <a:rPr lang="en-GB" b="1" dirty="0"/>
              <a:t>Steps</a:t>
            </a:r>
            <a:r>
              <a:rPr lang="en-GB" dirty="0"/>
              <a:t>:</a:t>
            </a:r>
          </a:p>
          <a:p>
            <a:pPr lvl="1"/>
            <a:r>
              <a:rPr lang="en-GB" dirty="0"/>
              <a:t>Display a message box prompting the user to enter the product name.</a:t>
            </a:r>
          </a:p>
          <a:p>
            <a:pPr lvl="1"/>
            <a:r>
              <a:rPr lang="en-GB" dirty="0"/>
              <a:t>Validate the input to ensure it is not empty or invalid.</a:t>
            </a:r>
          </a:p>
          <a:p>
            <a:r>
              <a:rPr lang="en-GB" b="1" dirty="0"/>
              <a:t>Output</a:t>
            </a:r>
            <a:r>
              <a:rPr lang="en-GB" dirty="0"/>
              <a:t>: Validated product name.</a:t>
            </a:r>
          </a:p>
          <a:p>
            <a:pPr>
              <a:buNone/>
            </a:pPr>
            <a:r>
              <a:rPr lang="en-GB" b="1" u="sng" dirty="0"/>
              <a:t>Product Search:</a:t>
            </a:r>
          </a:p>
          <a:p>
            <a:r>
              <a:rPr lang="en-GB" b="1" dirty="0"/>
              <a:t>Purpose</a:t>
            </a:r>
            <a:r>
              <a:rPr lang="en-GB" dirty="0"/>
              <a:t>: To search for the product on Amazon's website.</a:t>
            </a:r>
          </a:p>
          <a:p>
            <a:r>
              <a:rPr lang="en-GB" b="1" dirty="0"/>
              <a:t>Steps</a:t>
            </a:r>
            <a:r>
              <a:rPr lang="en-GB" dirty="0"/>
              <a:t>:</a:t>
            </a:r>
          </a:p>
          <a:p>
            <a:pPr lvl="1"/>
            <a:r>
              <a:rPr lang="en-GB" dirty="0"/>
              <a:t>Open the Amazon website using a browser automation activity.</a:t>
            </a:r>
          </a:p>
          <a:p>
            <a:pPr lvl="1"/>
            <a:r>
              <a:rPr lang="en-GB" dirty="0"/>
              <a:t>Enter the product name in the search bar.</a:t>
            </a:r>
          </a:p>
          <a:p>
            <a:pPr lvl="1"/>
            <a:r>
              <a:rPr lang="en-GB" dirty="0"/>
              <a:t>Initiate the search by simulating a click on the search button.</a:t>
            </a:r>
          </a:p>
          <a:p>
            <a:r>
              <a:rPr lang="en-GB" b="1" dirty="0"/>
              <a:t>Output</a:t>
            </a:r>
            <a:r>
              <a:rPr lang="en-GB" dirty="0"/>
              <a:t>: Amazon search results page.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Design</a:t>
            </a:r>
          </a:p>
        </p:txBody>
      </p:sp>
      <p:sp>
        <p:nvSpPr>
          <p:cNvPr id="3" name="Content Placeholder 2"/>
          <p:cNvSpPr>
            <a:spLocks noGrp="1"/>
          </p:cNvSpPr>
          <p:nvPr>
            <p:ph idx="1"/>
          </p:nvPr>
        </p:nvSpPr>
        <p:spPr/>
        <p:txBody>
          <a:bodyPr>
            <a:normAutofit fontScale="77500" lnSpcReduction="20000"/>
          </a:bodyPr>
          <a:lstStyle/>
          <a:p>
            <a:pPr>
              <a:buNone/>
            </a:pPr>
            <a:r>
              <a:rPr lang="en-GB" b="1" dirty="0"/>
              <a:t> </a:t>
            </a:r>
            <a:r>
              <a:rPr lang="en-GB" b="1" u="sng" dirty="0"/>
              <a:t>Data Storage:</a:t>
            </a:r>
          </a:p>
          <a:p>
            <a:r>
              <a:rPr lang="en-GB" b="1" dirty="0"/>
              <a:t>Purpose</a:t>
            </a:r>
            <a:r>
              <a:rPr lang="en-GB" dirty="0"/>
              <a:t>: To save the scraped data for further analysis.</a:t>
            </a:r>
          </a:p>
          <a:p>
            <a:r>
              <a:rPr lang="en-GB" b="1" dirty="0"/>
              <a:t>Steps</a:t>
            </a:r>
            <a:r>
              <a:rPr lang="en-GB" dirty="0"/>
              <a:t>:</a:t>
            </a:r>
          </a:p>
          <a:p>
            <a:pPr lvl="1"/>
            <a:r>
              <a:rPr lang="en-GB" dirty="0"/>
              <a:t>Open or create an Excel sheet.</a:t>
            </a:r>
          </a:p>
          <a:p>
            <a:pPr lvl="1"/>
            <a:r>
              <a:rPr lang="en-GB" dirty="0"/>
              <a:t>Write the scraped data into the appropriate columns (Product Name, Price, Rating).</a:t>
            </a:r>
          </a:p>
          <a:p>
            <a:pPr lvl="1"/>
            <a:r>
              <a:rPr lang="en-GB" dirty="0"/>
              <a:t>Save and close the Excel file.</a:t>
            </a:r>
          </a:p>
          <a:p>
            <a:r>
              <a:rPr lang="en-GB" b="1" dirty="0"/>
              <a:t>Output</a:t>
            </a:r>
            <a:r>
              <a:rPr lang="en-GB" dirty="0"/>
              <a:t>: Excel file with product data.</a:t>
            </a:r>
          </a:p>
          <a:p>
            <a:pPr>
              <a:buNone/>
            </a:pPr>
            <a:r>
              <a:rPr lang="en-GB" b="1" u="sng" dirty="0"/>
              <a:t>Data Analysis and Report Generation</a:t>
            </a:r>
          </a:p>
          <a:p>
            <a:r>
              <a:rPr lang="en-GB" b="1" dirty="0"/>
              <a:t>Purpose</a:t>
            </a:r>
            <a:r>
              <a:rPr lang="en-GB" dirty="0"/>
              <a:t>: To analyze the scraped data and generate a report.</a:t>
            </a:r>
          </a:p>
          <a:p>
            <a:r>
              <a:rPr lang="en-GB" b="1" dirty="0"/>
              <a:t>Steps</a:t>
            </a:r>
            <a:r>
              <a:rPr lang="en-GB" dirty="0"/>
              <a:t>:</a:t>
            </a:r>
          </a:p>
          <a:p>
            <a:pPr lvl="1"/>
            <a:r>
              <a:rPr lang="en-GB" dirty="0"/>
              <a:t>Identify the top 5 products based on ratings and prices.</a:t>
            </a:r>
          </a:p>
          <a:p>
            <a:pPr lvl="1"/>
            <a:r>
              <a:rPr lang="en-GB" dirty="0"/>
              <a:t>Extract the products with the highest and lowest prices.</a:t>
            </a:r>
          </a:p>
          <a:p>
            <a:pPr lvl="1"/>
            <a:r>
              <a:rPr lang="en-GB" dirty="0"/>
              <a:t>Generate a Word document summarizing the findings.</a:t>
            </a:r>
          </a:p>
          <a:p>
            <a:pPr lvl="2"/>
            <a:r>
              <a:rPr lang="en-GB" dirty="0"/>
              <a:t>Include the top 5 products with their details.</a:t>
            </a:r>
          </a:p>
          <a:p>
            <a:pPr lvl="2"/>
            <a:r>
              <a:rPr lang="en-GB" dirty="0"/>
              <a:t>Highlight the maximum and minimum priced products.</a:t>
            </a:r>
          </a:p>
          <a:p>
            <a:pPr lvl="1"/>
            <a:r>
              <a:rPr lang="en-GB" dirty="0"/>
              <a:t>Save the Word document.</a:t>
            </a:r>
          </a:p>
          <a:p>
            <a:r>
              <a:rPr lang="en-GB" b="1" dirty="0"/>
              <a:t>Output</a:t>
            </a:r>
            <a:r>
              <a:rPr lang="en-GB" dirty="0"/>
              <a:t>: Word document with a detailed report.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02544-C57A-93A2-365C-5FC62570BA6A}"/>
              </a:ext>
            </a:extLst>
          </p:cNvPr>
          <p:cNvSpPr>
            <a:spLocks noGrp="1"/>
          </p:cNvSpPr>
          <p:nvPr>
            <p:ph type="title"/>
          </p:nvPr>
        </p:nvSpPr>
        <p:spPr/>
        <p:txBody>
          <a:bodyPr/>
          <a:lstStyle/>
          <a:p>
            <a:r>
              <a:rPr lang="en-IN" dirty="0"/>
              <a:t>Workflow </a:t>
            </a:r>
          </a:p>
        </p:txBody>
      </p:sp>
      <p:pic>
        <p:nvPicPr>
          <p:cNvPr id="5" name="Content Placeholder 4">
            <a:extLst>
              <a:ext uri="{FF2B5EF4-FFF2-40B4-BE49-F238E27FC236}">
                <a16:creationId xmlns:a16="http://schemas.microsoft.com/office/drawing/2014/main" id="{76836380-1403-EB4E-EBDE-384B990F651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70292" y="990600"/>
            <a:ext cx="3769660" cy="2726432"/>
          </a:xfrm>
        </p:spPr>
      </p:pic>
      <p:pic>
        <p:nvPicPr>
          <p:cNvPr id="7" name="Picture 6">
            <a:extLst>
              <a:ext uri="{FF2B5EF4-FFF2-40B4-BE49-F238E27FC236}">
                <a16:creationId xmlns:a16="http://schemas.microsoft.com/office/drawing/2014/main" id="{C77E70FC-D182-D990-D78A-3F114ABD3A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292" y="3827532"/>
            <a:ext cx="3396106" cy="2376264"/>
          </a:xfrm>
          <a:prstGeom prst="rect">
            <a:avLst/>
          </a:prstGeom>
        </p:spPr>
      </p:pic>
      <p:pic>
        <p:nvPicPr>
          <p:cNvPr id="9" name="Picture 8">
            <a:extLst>
              <a:ext uri="{FF2B5EF4-FFF2-40B4-BE49-F238E27FC236}">
                <a16:creationId xmlns:a16="http://schemas.microsoft.com/office/drawing/2014/main" id="{F0804AC2-2577-2650-F059-15EB087F75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5265" y="986101"/>
            <a:ext cx="4598235" cy="2726433"/>
          </a:xfrm>
          <a:prstGeom prst="rect">
            <a:avLst/>
          </a:prstGeom>
        </p:spPr>
      </p:pic>
      <p:pic>
        <p:nvPicPr>
          <p:cNvPr id="11" name="Picture 10">
            <a:extLst>
              <a:ext uri="{FF2B5EF4-FFF2-40B4-BE49-F238E27FC236}">
                <a16:creationId xmlns:a16="http://schemas.microsoft.com/office/drawing/2014/main" id="{EBFF9948-06EF-0713-FC47-FD764372B8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5265" y="3803808"/>
            <a:ext cx="4537215" cy="2399988"/>
          </a:xfrm>
          <a:prstGeom prst="rect">
            <a:avLst/>
          </a:prstGeom>
        </p:spPr>
      </p:pic>
    </p:spTree>
    <p:extLst>
      <p:ext uri="{BB962C8B-B14F-4D97-AF65-F5344CB8AC3E}">
        <p14:creationId xmlns:p14="http://schemas.microsoft.com/office/powerpoint/2010/main" val="1060664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1B9DA-2FFE-3778-C375-50C49DA92037}"/>
              </a:ext>
            </a:extLst>
          </p:cNvPr>
          <p:cNvSpPr>
            <a:spLocks noGrp="1"/>
          </p:cNvSpPr>
          <p:nvPr>
            <p:ph type="title"/>
          </p:nvPr>
        </p:nvSpPr>
        <p:spPr/>
        <p:txBody>
          <a:bodyPr/>
          <a:lstStyle/>
          <a:p>
            <a:r>
              <a:rPr lang="en-IN" dirty="0"/>
              <a:t>Workflow</a:t>
            </a:r>
          </a:p>
        </p:txBody>
      </p:sp>
      <p:pic>
        <p:nvPicPr>
          <p:cNvPr id="5" name="Content Placeholder 4">
            <a:extLst>
              <a:ext uri="{FF2B5EF4-FFF2-40B4-BE49-F238E27FC236}">
                <a16:creationId xmlns:a16="http://schemas.microsoft.com/office/drawing/2014/main" id="{8BB82BFF-7A83-95FC-0FD2-99B8C47B2B6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 y="1052736"/>
            <a:ext cx="3912353" cy="2768926"/>
          </a:xfrm>
        </p:spPr>
      </p:pic>
      <p:pic>
        <p:nvPicPr>
          <p:cNvPr id="7" name="Picture 6">
            <a:extLst>
              <a:ext uri="{FF2B5EF4-FFF2-40B4-BE49-F238E27FC236}">
                <a16:creationId xmlns:a16="http://schemas.microsoft.com/office/drawing/2014/main" id="{275D3FB6-7212-3EB3-AF2A-D15A39DDB2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239" y="3831076"/>
            <a:ext cx="4021460" cy="2373889"/>
          </a:xfrm>
          <a:prstGeom prst="rect">
            <a:avLst/>
          </a:prstGeom>
        </p:spPr>
      </p:pic>
      <p:pic>
        <p:nvPicPr>
          <p:cNvPr id="9" name="Picture 8">
            <a:extLst>
              <a:ext uri="{FF2B5EF4-FFF2-40B4-BE49-F238E27FC236}">
                <a16:creationId xmlns:a16="http://schemas.microsoft.com/office/drawing/2014/main" id="{18E36322-97D8-EFE8-8E83-534C28104F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8024" y="1022135"/>
            <a:ext cx="3912353" cy="2701205"/>
          </a:xfrm>
          <a:prstGeom prst="rect">
            <a:avLst/>
          </a:prstGeom>
        </p:spPr>
      </p:pic>
      <p:pic>
        <p:nvPicPr>
          <p:cNvPr id="11" name="Picture 10">
            <a:extLst>
              <a:ext uri="{FF2B5EF4-FFF2-40B4-BE49-F238E27FC236}">
                <a16:creationId xmlns:a16="http://schemas.microsoft.com/office/drawing/2014/main" id="{D0334C00-AAAE-F04B-FEAD-D9B25701E3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88024" y="3811943"/>
            <a:ext cx="3912353" cy="2554986"/>
          </a:xfrm>
          <a:prstGeom prst="rect">
            <a:avLst/>
          </a:prstGeom>
        </p:spPr>
      </p:pic>
    </p:spTree>
    <p:extLst>
      <p:ext uri="{BB962C8B-B14F-4D97-AF65-F5344CB8AC3E}">
        <p14:creationId xmlns:p14="http://schemas.microsoft.com/office/powerpoint/2010/main" val="113283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7E7C-92BA-E528-8AA3-A76642462F5E}"/>
              </a:ext>
            </a:extLst>
          </p:cNvPr>
          <p:cNvSpPr>
            <a:spLocks noGrp="1"/>
          </p:cNvSpPr>
          <p:nvPr>
            <p:ph type="title"/>
          </p:nvPr>
        </p:nvSpPr>
        <p:spPr/>
        <p:txBody>
          <a:bodyPr/>
          <a:lstStyle/>
          <a:p>
            <a:r>
              <a:rPr lang="en-IN" dirty="0"/>
              <a:t>Workflow</a:t>
            </a:r>
          </a:p>
        </p:txBody>
      </p:sp>
      <p:pic>
        <p:nvPicPr>
          <p:cNvPr id="5" name="Content Placeholder 4">
            <a:extLst>
              <a:ext uri="{FF2B5EF4-FFF2-40B4-BE49-F238E27FC236}">
                <a16:creationId xmlns:a16="http://schemas.microsoft.com/office/drawing/2014/main" id="{E844E98C-B940-273F-AFDE-9E99477C374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0618" y="980728"/>
            <a:ext cx="3579294" cy="2338649"/>
          </a:xfrm>
        </p:spPr>
      </p:pic>
      <p:pic>
        <p:nvPicPr>
          <p:cNvPr id="7" name="Picture 6">
            <a:extLst>
              <a:ext uri="{FF2B5EF4-FFF2-40B4-BE49-F238E27FC236}">
                <a16:creationId xmlns:a16="http://schemas.microsoft.com/office/drawing/2014/main" id="{9F4F0CB9-E8E7-AF2D-EDD1-0707DCA1C6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0618" y="3538624"/>
            <a:ext cx="3579294" cy="2554672"/>
          </a:xfrm>
          <a:prstGeom prst="rect">
            <a:avLst/>
          </a:prstGeom>
        </p:spPr>
      </p:pic>
      <p:pic>
        <p:nvPicPr>
          <p:cNvPr id="9" name="Picture 8">
            <a:extLst>
              <a:ext uri="{FF2B5EF4-FFF2-40B4-BE49-F238E27FC236}">
                <a16:creationId xmlns:a16="http://schemas.microsoft.com/office/drawing/2014/main" id="{3965E1BE-F67D-ACDE-8025-1E6AEC3D2C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3968" y="1052736"/>
            <a:ext cx="4392488" cy="2638199"/>
          </a:xfrm>
          <a:prstGeom prst="rect">
            <a:avLst/>
          </a:prstGeom>
        </p:spPr>
      </p:pic>
      <p:pic>
        <p:nvPicPr>
          <p:cNvPr id="11" name="Picture 10">
            <a:extLst>
              <a:ext uri="{FF2B5EF4-FFF2-40B4-BE49-F238E27FC236}">
                <a16:creationId xmlns:a16="http://schemas.microsoft.com/office/drawing/2014/main" id="{FC673D49-BB95-75D9-F8E7-3A57D09405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9952" y="3895832"/>
            <a:ext cx="4536504" cy="2197464"/>
          </a:xfrm>
          <a:prstGeom prst="rect">
            <a:avLst/>
          </a:prstGeom>
        </p:spPr>
      </p:pic>
    </p:spTree>
    <p:extLst>
      <p:ext uri="{BB962C8B-B14F-4D97-AF65-F5344CB8AC3E}">
        <p14:creationId xmlns:p14="http://schemas.microsoft.com/office/powerpoint/2010/main" val="81018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marL="0" indent="0">
              <a:buNone/>
            </a:pPr>
            <a:endParaRPr lang="en-US" dirty="0"/>
          </a:p>
          <a:p>
            <a:endParaRPr lang="en-US" dirty="0"/>
          </a:p>
        </p:txBody>
      </p:sp>
      <p:pic>
        <p:nvPicPr>
          <p:cNvPr id="5" name="Picture 4">
            <a:extLst>
              <a:ext uri="{FF2B5EF4-FFF2-40B4-BE49-F238E27FC236}">
                <a16:creationId xmlns:a16="http://schemas.microsoft.com/office/drawing/2014/main" id="{4D869758-2CA5-4500-EE1A-DA5BDD852A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990600"/>
            <a:ext cx="2594008" cy="4694631"/>
          </a:xfrm>
          <a:prstGeom prst="rect">
            <a:avLst/>
          </a:prstGeom>
        </p:spPr>
      </p:pic>
      <p:pic>
        <p:nvPicPr>
          <p:cNvPr id="7" name="Picture 6">
            <a:extLst>
              <a:ext uri="{FF2B5EF4-FFF2-40B4-BE49-F238E27FC236}">
                <a16:creationId xmlns:a16="http://schemas.microsoft.com/office/drawing/2014/main" id="{1ADEB3E2-9B62-3881-5BFD-E3AEFD7F30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1552" y="1015979"/>
            <a:ext cx="4174744" cy="4669252"/>
          </a:xfrm>
          <a:prstGeom prst="rect">
            <a:avLst/>
          </a:prstGeom>
        </p:spPr>
      </p:pic>
      <p:pic>
        <p:nvPicPr>
          <p:cNvPr id="9" name="Picture 8">
            <a:extLst>
              <a:ext uri="{FF2B5EF4-FFF2-40B4-BE49-F238E27FC236}">
                <a16:creationId xmlns:a16="http://schemas.microsoft.com/office/drawing/2014/main" id="{704C1F2A-6A39-D5B7-3BF3-045566E6932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5566260" y="2773464"/>
            <a:ext cx="4901487" cy="1561416"/>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fontScale="70000" lnSpcReduction="20000"/>
          </a:bodyPr>
          <a:lstStyle/>
          <a:p>
            <a:r>
              <a:rPr lang="en-GB" sz="2600" dirty="0"/>
              <a:t>The </a:t>
            </a:r>
            <a:r>
              <a:rPr lang="en-GB" sz="2600" b="1" dirty="0"/>
              <a:t>Shopping Robot</a:t>
            </a:r>
            <a:r>
              <a:rPr lang="en-GB" sz="2600" dirty="0"/>
              <a:t> project demonstrates the significant potential of Robotic Process Automation (RPA) in enhancing the online shopping experience by automating repetitive and time-consuming tasks. By leveraging UiPath Studio, the project successfully enables users to search for products on Amazon, extract key details such as product name, price, and ratings, and store this data in an organized Excel sheet. The robot then identifies the top 5 products, providing valuable insights like maximum and minimum pricing, and generates a professional Word document to present these findings. Additionally, the system streamlines the shopping process by allowing users to add selected items to the cart with ease.</a:t>
            </a:r>
          </a:p>
          <a:p>
            <a:r>
              <a:rPr lang="en-GB" sz="2600" dirty="0"/>
              <a:t>This project not only showcases the power of automation in simplifying online shopping but also emphasizes the ability to make informed purchasing decisions based on real-time, structured data. By eliminating manual effort and enhancing accuracy, the Shopping Robot offers a user-friendly and efficient solution that can be extended to other e-commerce platforms, integrated with personalized recommendations, and even expanded to mobile and voice-based interfaces in the future.</a:t>
            </a:r>
          </a:p>
          <a:p>
            <a:r>
              <a:rPr lang="en-GB" sz="2600" dirty="0"/>
              <a:t>In conclusion, the </a:t>
            </a:r>
            <a:r>
              <a:rPr lang="en-GB" sz="2600" b="1" dirty="0"/>
              <a:t>Shopping Robot</a:t>
            </a:r>
            <a:r>
              <a:rPr lang="en-GB" sz="2600" dirty="0"/>
              <a:t> represents a significant advancement in the application of RPA, providing users with a seamless, accurate, and time-saving online shopping experience while offering opportunities for future enhancements to further optimize its functionality.</a:t>
            </a:r>
            <a:endParaRPr lang="en-US" sz="2600"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normAutofit/>
          </a:bodyPr>
          <a:lstStyle/>
          <a:p>
            <a:pPr marL="457200" indent="-457200">
              <a:buAutoNum type="arabicPeriod"/>
            </a:pPr>
            <a:r>
              <a:rPr lang="en-GB" b="1" dirty="0"/>
              <a:t>Integration with Multiple E-commerce Platforms</a:t>
            </a:r>
          </a:p>
          <a:p>
            <a:pPr marL="457200" indent="-457200">
              <a:buAutoNum type="arabicPeriod"/>
            </a:pPr>
            <a:r>
              <a:rPr lang="en-US" b="1" dirty="0"/>
              <a:t>Price Comparison and Alerts</a:t>
            </a:r>
            <a:endParaRPr lang="en-GB" b="1" dirty="0"/>
          </a:p>
          <a:p>
            <a:pPr marL="457200" indent="-457200">
              <a:buAutoNum type="arabicPeriod"/>
            </a:pPr>
            <a:r>
              <a:rPr lang="en-US" b="1" dirty="0"/>
              <a:t>Advanced Product Filters</a:t>
            </a:r>
          </a:p>
          <a:p>
            <a:pPr marL="457200" indent="-457200">
              <a:buAutoNum type="arabicPeriod"/>
            </a:pPr>
            <a:r>
              <a:rPr lang="en-GB" b="1" dirty="0"/>
              <a:t>User Authentication and Personalized Experience</a:t>
            </a:r>
          </a:p>
          <a:p>
            <a:pPr marL="457200" indent="-457200">
              <a:buAutoNum type="arabicPeriod"/>
            </a:pPr>
            <a:r>
              <a:rPr lang="en-US" b="1" dirty="0"/>
              <a:t>Integration with Payment Systems</a:t>
            </a:r>
          </a:p>
          <a:p>
            <a:pPr marL="457200" indent="-457200">
              <a:buAutoNum type="arabicPeriod"/>
            </a:pPr>
            <a:r>
              <a:rPr lang="en-GB" b="1" dirty="0"/>
              <a:t>Advanced Data Analytics and Visualization</a:t>
            </a:r>
          </a:p>
          <a:p>
            <a:pPr marL="457200" indent="-457200">
              <a:buAutoNum type="arabicPeriod"/>
            </a:pPr>
            <a:r>
              <a:rPr lang="en-US" b="1" dirty="0"/>
              <a:t>AI-powered Product Recommendations</a:t>
            </a:r>
          </a:p>
          <a:p>
            <a:pPr marL="457200" indent="-457200">
              <a:buAutoNum type="arabicPeriod"/>
            </a:pPr>
            <a:r>
              <a:rPr lang="en-US" b="1" dirty="0"/>
              <a:t>Multi-Language and Multi-Currency Support</a:t>
            </a:r>
          </a:p>
          <a:p>
            <a:pPr marL="457200" indent="-457200">
              <a:buAutoNum type="arabicPeriod"/>
            </a:pPr>
            <a:r>
              <a:rPr lang="en-US" b="1" dirty="0"/>
              <a:t>Voice Command Integration</a:t>
            </a:r>
          </a:p>
          <a:p>
            <a:pPr marL="457200" indent="-457200">
              <a:buAutoNum type="arabicPeriod"/>
            </a:pPr>
            <a:r>
              <a:rPr lang="en-US" b="1" dirty="0"/>
              <a:t>Mobile Application Version</a:t>
            </a:r>
            <a:endParaRPr lang="en-US" b="1" u="sng"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a:xfrm>
            <a:off x="190500" y="990600"/>
            <a:ext cx="8882094" cy="5438796"/>
          </a:xfrm>
        </p:spPr>
        <p:txBody>
          <a:bodyPr>
            <a:normAutofit fontScale="85000" lnSpcReduction="20000"/>
          </a:bodyPr>
          <a:lstStyle/>
          <a:p>
            <a:pPr>
              <a:buNone/>
            </a:pPr>
            <a:r>
              <a:rPr lang="en-GB" b="1" dirty="0"/>
              <a:t>1. Books:</a:t>
            </a:r>
          </a:p>
          <a:p>
            <a:r>
              <a:rPr lang="en-GB" i="1" dirty="0"/>
              <a:t>RPA: Robotic Process Automation</a:t>
            </a:r>
            <a:r>
              <a:rPr lang="en-GB" dirty="0"/>
              <a:t> by </a:t>
            </a:r>
            <a:r>
              <a:rPr lang="en-GB" dirty="0" err="1"/>
              <a:t>Alok</a:t>
            </a:r>
            <a:r>
              <a:rPr lang="en-GB" dirty="0"/>
              <a:t> Mani </a:t>
            </a:r>
            <a:r>
              <a:rPr lang="en-GB" dirty="0" err="1"/>
              <a:t>Tripathi</a:t>
            </a:r>
            <a:r>
              <a:rPr lang="en-GB" dirty="0"/>
              <a:t> – A comprehensive guide on how to implement RPA solutions using tools like UiPath.</a:t>
            </a:r>
          </a:p>
          <a:p>
            <a:r>
              <a:rPr lang="en-GB" i="1" dirty="0"/>
              <a:t>Learning Robotic Process Automation</a:t>
            </a:r>
            <a:r>
              <a:rPr lang="en-GB" dirty="0"/>
              <a:t> by </a:t>
            </a:r>
            <a:r>
              <a:rPr lang="en-GB" dirty="0" err="1"/>
              <a:t>Alok</a:t>
            </a:r>
            <a:r>
              <a:rPr lang="en-GB" dirty="0"/>
              <a:t> Mani </a:t>
            </a:r>
            <a:r>
              <a:rPr lang="en-GB" dirty="0" err="1"/>
              <a:t>Tripathi</a:t>
            </a:r>
            <a:r>
              <a:rPr lang="en-GB" dirty="0"/>
              <a:t> – A beginner-friendly book for understanding RPA concepts and UiPath.</a:t>
            </a:r>
          </a:p>
          <a:p>
            <a:pPr>
              <a:buNone/>
            </a:pPr>
            <a:r>
              <a:rPr lang="en-GB" b="1" dirty="0"/>
              <a:t>2. Research Papers and Articles:</a:t>
            </a:r>
          </a:p>
          <a:p>
            <a:r>
              <a:rPr lang="en-GB" i="1" dirty="0"/>
              <a:t>Robotic Process Automation (RPA) in E-Commerce</a:t>
            </a:r>
            <a:r>
              <a:rPr lang="en-GB" dirty="0"/>
              <a:t> – Research articles discussing the role of RPA in automating online shopping processes.</a:t>
            </a:r>
          </a:p>
          <a:p>
            <a:r>
              <a:rPr lang="en-GB" dirty="0" err="1"/>
              <a:t>Batra</a:t>
            </a:r>
            <a:r>
              <a:rPr lang="en-GB" dirty="0"/>
              <a:t>, R., &amp; Gupta, P. (2020). </a:t>
            </a:r>
            <a:r>
              <a:rPr lang="en-GB" i="1" dirty="0"/>
              <a:t>Exploring the Impact of Robotic Process Automation in E-Commerce</a:t>
            </a:r>
            <a:r>
              <a:rPr lang="en-GB" dirty="0"/>
              <a:t> - Journal of Automation and AI.</a:t>
            </a:r>
          </a:p>
          <a:p>
            <a:pPr>
              <a:buNone/>
            </a:pPr>
            <a:r>
              <a:rPr lang="en-GB" b="1" dirty="0"/>
              <a:t>3. UiPath Official Documentation and Tutorials:</a:t>
            </a:r>
          </a:p>
          <a:p>
            <a:r>
              <a:rPr lang="en-GB" b="1" dirty="0"/>
              <a:t>UiPath Documentation</a:t>
            </a:r>
            <a:r>
              <a:rPr lang="en-GB" dirty="0"/>
              <a:t>: https://docs.uipath.com/ – The official documentation provides detailed guides, activities, and workflows on how to use UiPath Studio.</a:t>
            </a:r>
          </a:p>
          <a:p>
            <a:r>
              <a:rPr lang="en-GB" b="1" dirty="0"/>
              <a:t>UiPath Academy</a:t>
            </a:r>
            <a:r>
              <a:rPr lang="en-GB" dirty="0"/>
              <a:t>: https://academy.uipath.com/ – A collection of free training courses and tutorials on UiPath, useful for learning how to build automation solutions.</a:t>
            </a:r>
          </a:p>
          <a:p>
            <a:endParaRPr lang="en-GB" dirty="0"/>
          </a:p>
          <a:p>
            <a:pPr>
              <a:buNone/>
            </a:pPr>
            <a:endParaRPr lang="en-GB" dirty="0"/>
          </a:p>
          <a:p>
            <a:endParaRPr lang="en-GB"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9269</TotalTime>
  <Words>2128</Words>
  <Application>Microsoft Office PowerPoint</Application>
  <PresentationFormat>On-screen Show (4:3)</PresentationFormat>
  <Paragraphs>157</Paragraphs>
  <Slides>23</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Main Objective</vt:lpstr>
      <vt:lpstr>Architecture</vt:lpstr>
      <vt:lpstr>System Requirements</vt:lpstr>
      <vt:lpstr>System Requirements</vt:lpstr>
      <vt:lpstr>Functional Description</vt:lpstr>
      <vt:lpstr>Functional Description</vt:lpstr>
      <vt:lpstr>Table Design</vt:lpstr>
      <vt:lpstr>Process Design</vt:lpstr>
      <vt:lpstr>Process Design</vt:lpstr>
      <vt:lpstr>Process Design</vt:lpstr>
      <vt:lpstr>Process Design</vt:lpstr>
      <vt:lpstr>Workflow </vt:lpstr>
      <vt:lpstr>Workflow</vt:lpstr>
      <vt:lpstr>Workflow</vt:lpstr>
      <vt:lpstr>Testing</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Yuvathi Sivaprakash</dc:creator>
  <cp:lastModifiedBy>Sanjay N</cp:lastModifiedBy>
  <cp:revision>1748</cp:revision>
  <dcterms:created xsi:type="dcterms:W3CDTF">2013-05-17T03:00:03Z</dcterms:created>
  <dcterms:modified xsi:type="dcterms:W3CDTF">2024-11-22T04:32:48Z</dcterms:modified>
</cp:coreProperties>
</file>